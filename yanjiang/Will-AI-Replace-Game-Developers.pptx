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Hind"/>
      <p:regular r:id="rId201314"/>
    </p:embeddedFont>
    <p:embeddedFont>
      <p:font typeface="Hind Bold"/>
      <p:regular r:id="rId201315"/>
    </p:embeddedFont>
    <p:embeddedFont>
      <p:font typeface="Oxanium Bold"/>
      <p:regular r:id="rId201316"/>
    </p:embeddedFont>
    <p:embeddedFont>
      <p:font typeface="Rajdhani Bold"/>
      <p:regular r:id="rId201317"/>
    </p:embeddedFont>
    <p:embeddedFont>
      <p:font typeface="Share Tech Mono"/>
      <p:regular r:id="rId2013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2A0F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70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2A0F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812800"/>
            <a:ext cx="7873803" cy="4572000"/>
          </a:xfrm>
          <a:prstGeom prst="roundRect">
            <a:avLst>
              <a:gd name="adj" fmla="val 625"/>
            </a:avLst>
          </a:prstGeom>
          <a:solidFill>
            <a:srgbClr val="1B0830">
              <a:alpha val="7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1041374" y="1244409"/>
            <a:ext cx="7010225" cy="265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8000"/>
              </a:lnSpc>
              <a:buNone/>
            </a:pPr>
            <a:r>
              <a:rPr lang="en-US" sz="7400" b="1" spc="-296" kern="100" dirty="0">
                <a:solidFill>
                  <a:srgbClr val="FFFFFF"/>
                </a:solidFill>
                <a:latin typeface="Oxanium Bold" pitchFamily="34" charset="0"/>
                <a:ea typeface="Oxanium Bold" pitchFamily="34" charset="-122"/>
                <a:cs typeface="Oxanium Bold" pitchFamily="34" charset="-120"/>
              </a:rPr>
              <a:t>Will AI Replace</a:t>
            </a:r>
            <a:endParaRPr lang="en-US" sz="7400" dirty="0"/>
          </a:p>
          <a:p>
            <a:pPr algn="l" indent="0" marL="0">
              <a:lnSpc>
                <a:spcPct val="78000"/>
              </a:lnSpc>
              <a:buNone/>
            </a:pPr>
            <a:r>
              <a:rPr lang="en-US" sz="7400" b="1" spc="-296" kern="100" dirty="0">
                <a:solidFill>
                  <a:srgbClr val="FFFFFF"/>
                </a:solidFill>
                <a:latin typeface="Oxanium Bold" pitchFamily="34" charset="0"/>
                <a:ea typeface="Oxanium Bold" pitchFamily="34" charset="-122"/>
                <a:cs typeface="Oxanium Bold" pitchFamily="34" charset="-120"/>
              </a:rPr>
              <a:t>Game Developers?</a:t>
            </a:r>
            <a:endParaRPr lang="en-US" sz="7400" dirty="0"/>
          </a:p>
        </p:txBody>
      </p:sp>
      <p:sp>
        <p:nvSpPr>
          <p:cNvPr id="4" name="Shape 2"/>
          <p:cNvSpPr/>
          <p:nvPr/>
        </p:nvSpPr>
        <p:spPr>
          <a:xfrm>
            <a:off x="1041374" y="4096544"/>
            <a:ext cx="1752556" cy="31651"/>
          </a:xfrm>
          <a:prstGeom prst="roundRect">
            <a:avLst>
              <a:gd name="adj" fmla="val 49998"/>
            </a:avLst>
          </a:prstGeom>
          <a:solidFill>
            <a:srgbClr val="FFB23F"/>
          </a:solidFill>
          <a:ln/>
        </p:spPr>
      </p:sp>
      <p:sp>
        <p:nvSpPr>
          <p:cNvPr id="5" name="Text 3"/>
          <p:cNvSpPr/>
          <p:nvPr/>
        </p:nvSpPr>
        <p:spPr>
          <a:xfrm>
            <a:off x="1041374" y="4352131"/>
            <a:ext cx="7619809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Hind" pitchFamily="34" charset="0"/>
                <a:ea typeface="Hind" pitchFamily="34" charset="-122"/>
                <a:cs typeface="Hind" pitchFamily="34" charset="-120"/>
              </a:rPr>
              <a:t>Hello, everyone.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6809"/>
            <a:ext cx="10972526" cy="597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9000"/>
              </a:lnSpc>
              <a:buNone/>
            </a:pPr>
            <a:r>
              <a:rPr lang="en-US" sz="4400" b="1" spc="-53" kern="100" dirty="0">
                <a:solidFill>
                  <a:srgbClr val="F6EEFB"/>
                </a:solidFill>
                <a:latin typeface="Rajdhani Bold" pitchFamily="34" charset="0"/>
                <a:ea typeface="Rajdhani Bold" pitchFamily="34" charset="-122"/>
                <a:cs typeface="Rajdhani Bold" pitchFamily="34" charset="-120"/>
              </a:rPr>
              <a:t>AI Is Changing Computer Industry Jobs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609585" y="1450380"/>
            <a:ext cx="2743131" cy="31651"/>
          </a:xfrm>
          <a:prstGeom prst="roundRect">
            <a:avLst>
              <a:gd name="adj" fmla="val 49998"/>
            </a:avLst>
          </a:prstGeom>
          <a:solidFill>
            <a:srgbClr val="FFB23F"/>
          </a:solidFill>
          <a:ln/>
        </p:spPr>
      </p:sp>
      <p:sp>
        <p:nvSpPr>
          <p:cNvPr id="4" name="Text 2"/>
          <p:cNvSpPr/>
          <p:nvPr/>
        </p:nvSpPr>
        <p:spPr>
          <a:xfrm>
            <a:off x="609585" y="1926134"/>
            <a:ext cx="10972526" cy="281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500" dirty="0">
                <a:solidFill>
                  <a:srgbClr val="E2D6EE"/>
                </a:solidFill>
                <a:latin typeface="Hind" pitchFamily="34" charset="0"/>
                <a:ea typeface="Hind" pitchFamily="34" charset="-122"/>
                <a:cs typeface="Hind" pitchFamily="34" charset="-120"/>
              </a:rPr>
              <a:t>Today, I would like to talk about the impact of artificial intelligence on the computer industry.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09585" y="3105547"/>
            <a:ext cx="10972526" cy="281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500" dirty="0">
                <a:solidFill>
                  <a:srgbClr val="E2D6EE"/>
                </a:solidFill>
                <a:latin typeface="Hind" pitchFamily="34" charset="0"/>
                <a:ea typeface="Hind" pitchFamily="34" charset="-122"/>
                <a:cs typeface="Hind" pitchFamily="34" charset="-120"/>
              </a:rPr>
              <a:t>AI is developing at an incredible speed. It can now write code, fix errors, and even help create entire games.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09585" y="4284960"/>
            <a:ext cx="10972526" cy="563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500" dirty="0">
                <a:solidFill>
                  <a:srgbClr val="E2D6EE"/>
                </a:solidFill>
                <a:latin typeface="Hind" pitchFamily="34" charset="0"/>
                <a:ea typeface="Hind" pitchFamily="34" charset="-122"/>
                <a:cs typeface="Hind" pitchFamily="34" charset="-120"/>
              </a:rPr>
              <a:t>Some traditional jobs have already been affected by this technology. So, as AI becomes more powerful, will human programmers still be necessary?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09585" y="5746254"/>
            <a:ext cx="10972526" cy="281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500" dirty="0">
                <a:solidFill>
                  <a:srgbClr val="E2D6EE"/>
                </a:solidFill>
                <a:latin typeface="Hind" pitchFamily="34" charset="0"/>
                <a:ea typeface="Hind" pitchFamily="34" charset="-122"/>
                <a:cs typeface="Hind" pitchFamily="34" charset="-120"/>
              </a:rPr>
              <a:t>In my opinion, at least for now, AI cannot completely replace human developers.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09585" y="2650430"/>
            <a:ext cx="10972526" cy="12700"/>
          </a:xfrm>
          <a:prstGeom prst="rect">
            <a:avLst/>
          </a:prstGeom>
          <a:solidFill>
            <a:srgbClr val="5A3A7A"/>
          </a:solidFill>
          <a:ln/>
        </p:spPr>
      </p:sp>
      <p:sp>
        <p:nvSpPr>
          <p:cNvPr id="9" name="Shape 7"/>
          <p:cNvSpPr/>
          <p:nvPr/>
        </p:nvSpPr>
        <p:spPr>
          <a:xfrm>
            <a:off x="609585" y="3829844"/>
            <a:ext cx="10972526" cy="12700"/>
          </a:xfrm>
          <a:prstGeom prst="rect">
            <a:avLst/>
          </a:prstGeom>
          <a:solidFill>
            <a:srgbClr val="5A3A7A"/>
          </a:solidFill>
          <a:ln/>
        </p:spPr>
      </p:sp>
      <p:sp>
        <p:nvSpPr>
          <p:cNvPr id="10" name="Shape 8"/>
          <p:cNvSpPr/>
          <p:nvPr/>
        </p:nvSpPr>
        <p:spPr>
          <a:xfrm>
            <a:off x="609585" y="5291137"/>
            <a:ext cx="10972526" cy="12700"/>
          </a:xfrm>
          <a:prstGeom prst="rect">
            <a:avLst/>
          </a:prstGeom>
          <a:solidFill>
            <a:srgbClr val="5A3A7A"/>
          </a:solidFill>
          <a:ln/>
        </p:spPr>
      </p:sp>
      <p:sp>
        <p:nvSpPr>
          <p:cNvPr id="11" name="Text 9"/>
          <p:cNvSpPr/>
          <p:nvPr/>
        </p:nvSpPr>
        <p:spPr>
          <a:xfrm>
            <a:off x="11835608" y="6458545"/>
            <a:ext cx="356087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50" spc="84" kern="100" dirty="0">
                <a:solidFill>
                  <a:srgbClr val="B6A3CC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02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6809"/>
            <a:ext cx="10972526" cy="597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9000"/>
              </a:lnSpc>
              <a:buNone/>
            </a:pPr>
            <a:r>
              <a:rPr lang="en-US" sz="4400" b="1" spc="-53" kern="100" dirty="0">
                <a:solidFill>
                  <a:srgbClr val="F6EEFB"/>
                </a:solidFill>
                <a:latin typeface="Rajdhani Bold" pitchFamily="34" charset="0"/>
                <a:ea typeface="Rajdhani Bold" pitchFamily="34" charset="-122"/>
                <a:cs typeface="Rajdhani Bold" pitchFamily="34" charset="-120"/>
              </a:rPr>
              <a:t>Technical Knowledge Still Guides AI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609585" y="1450380"/>
            <a:ext cx="2743131" cy="31651"/>
          </a:xfrm>
          <a:prstGeom prst="roundRect">
            <a:avLst>
              <a:gd name="adj" fmla="val 49998"/>
            </a:avLst>
          </a:prstGeom>
          <a:solidFill>
            <a:srgbClr val="FFB23F"/>
          </a:solidFill>
          <a:ln/>
        </p:spPr>
      </p:sp>
      <p:sp>
        <p:nvSpPr>
          <p:cNvPr id="4" name="Text 2"/>
          <p:cNvSpPr/>
          <p:nvPr/>
        </p:nvSpPr>
        <p:spPr>
          <a:xfrm>
            <a:off x="609585" y="2202259"/>
            <a:ext cx="778252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dirty="0">
                <a:solidFill>
                  <a:srgbClr val="F3EAF9"/>
                </a:solidFill>
                <a:latin typeface="Hind" pitchFamily="34" charset="0"/>
                <a:ea typeface="Hind" pitchFamily="34" charset="-122"/>
                <a:cs typeface="Hind" pitchFamily="34" charset="-120"/>
              </a:rPr>
              <a:t>01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56048" y="2164159"/>
            <a:ext cx="10626062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2D6EE"/>
                </a:solidFill>
                <a:latin typeface="Hind" pitchFamily="34" charset="0"/>
                <a:ea typeface="Hind" pitchFamily="34" charset="-122"/>
                <a:cs typeface="Hind" pitchFamily="34" charset="-120"/>
              </a:rPr>
              <a:t>First, without technical knowledge, it is difficult to guide AI accurately.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09585" y="3744714"/>
            <a:ext cx="80791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dirty="0">
                <a:solidFill>
                  <a:srgbClr val="F3EAF9"/>
                </a:solidFill>
                <a:latin typeface="Hind" pitchFamily="34" charset="0"/>
                <a:ea typeface="Hind" pitchFamily="34" charset="-122"/>
                <a:cs typeface="Hind" pitchFamily="34" charset="-120"/>
              </a:rPr>
              <a:t>02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85714" y="3706614"/>
            <a:ext cx="10596397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2D6EE"/>
                </a:solidFill>
                <a:latin typeface="Hind" pitchFamily="34" charset="0"/>
                <a:ea typeface="Hind" pitchFamily="34" charset="-122"/>
                <a:cs typeface="Hind" pitchFamily="34" charset="-120"/>
              </a:rPr>
              <a:t>For example, when designing an NPC's behavior, developers need to understand the differences between behavior trees and state machines.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09585" y="5557738"/>
            <a:ext cx="803156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dirty="0">
                <a:solidFill>
                  <a:srgbClr val="F3EAF9"/>
                </a:solidFill>
                <a:latin typeface="Hind" pitchFamily="34" charset="0"/>
                <a:ea typeface="Hind" pitchFamily="34" charset="-122"/>
                <a:cs typeface="Hind" pitchFamily="34" charset="-120"/>
              </a:rPr>
              <a:t>03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80951" y="5519638"/>
            <a:ext cx="10601159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2D6EE"/>
                </a:solidFill>
                <a:latin typeface="Hind" pitchFamily="34" charset="0"/>
                <a:ea typeface="Hind" pitchFamily="34" charset="-122"/>
                <a:cs typeface="Hind" pitchFamily="34" charset="-120"/>
              </a:rPr>
              <a:t>Otherwise, AI may choose an unsuitable architecture and generate code that is difficult to maintain or extend.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09585" y="3064272"/>
            <a:ext cx="10972526" cy="12700"/>
          </a:xfrm>
          <a:prstGeom prst="rect">
            <a:avLst/>
          </a:prstGeom>
          <a:solidFill>
            <a:srgbClr val="5A3A7A"/>
          </a:solidFill>
          <a:ln/>
        </p:spPr>
      </p:sp>
      <p:sp>
        <p:nvSpPr>
          <p:cNvPr id="11" name="Shape 9"/>
          <p:cNvSpPr/>
          <p:nvPr/>
        </p:nvSpPr>
        <p:spPr>
          <a:xfrm>
            <a:off x="609585" y="4877296"/>
            <a:ext cx="10972526" cy="12700"/>
          </a:xfrm>
          <a:prstGeom prst="rect">
            <a:avLst/>
          </a:prstGeom>
          <a:solidFill>
            <a:srgbClr val="5A3A7A"/>
          </a:solidFill>
          <a:ln/>
        </p:spPr>
      </p:sp>
      <p:sp>
        <p:nvSpPr>
          <p:cNvPr id="12" name="Text 10"/>
          <p:cNvSpPr/>
          <p:nvPr/>
        </p:nvSpPr>
        <p:spPr>
          <a:xfrm>
            <a:off x="11835608" y="6458545"/>
            <a:ext cx="356087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50" spc="84" kern="100" dirty="0">
                <a:solidFill>
                  <a:srgbClr val="B6A3CC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03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6809"/>
            <a:ext cx="4724282" cy="1195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9000"/>
              </a:lnSpc>
              <a:buNone/>
            </a:pPr>
            <a:r>
              <a:rPr lang="en-US" sz="4400" b="1" spc="-53" kern="100" dirty="0">
                <a:solidFill>
                  <a:srgbClr val="F6EEFB"/>
                </a:solidFill>
                <a:latin typeface="Rajdhani Bold" pitchFamily="34" charset="0"/>
                <a:ea typeface="Rajdhani Bold" pitchFamily="34" charset="-122"/>
                <a:cs typeface="Rajdhani Bold" pitchFamily="34" charset="-120"/>
              </a:rPr>
              <a:t>Not Every Problem Is a Programming Error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609585" y="2048272"/>
            <a:ext cx="1181070" cy="31651"/>
          </a:xfrm>
          <a:prstGeom prst="roundRect">
            <a:avLst>
              <a:gd name="adj" fmla="val 49998"/>
            </a:avLst>
          </a:prstGeom>
          <a:solidFill>
            <a:srgbClr val="FFB23F"/>
          </a:solidFill>
          <a:ln/>
        </p:spPr>
      </p:sp>
      <p:sp>
        <p:nvSpPr>
          <p:cNvPr id="4" name="Text 2"/>
          <p:cNvSpPr/>
          <p:nvPr/>
        </p:nvSpPr>
        <p:spPr>
          <a:xfrm>
            <a:off x="609585" y="2303859"/>
            <a:ext cx="4724282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2D6EE"/>
                </a:solidFill>
                <a:latin typeface="Hind" pitchFamily="34" charset="0"/>
                <a:ea typeface="Hind" pitchFamily="34" charset="-122"/>
                <a:cs typeface="Hind" pitchFamily="34" charset="-120"/>
              </a:rPr>
              <a:t>Second, not every problem in a game is a programming error.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248244" y="0"/>
            <a:ext cx="5943451" cy="2466280"/>
          </a:xfrm>
          <a:prstGeom prst="rect">
            <a:avLst/>
          </a:prstGeom>
          <a:solidFill>
            <a:srgbClr val="3D1466"/>
          </a:solidFill>
          <a:ln/>
        </p:spPr>
      </p:sp>
      <p:sp>
        <p:nvSpPr>
          <p:cNvPr id="6" name="Text 4"/>
          <p:cNvSpPr/>
          <p:nvPr/>
        </p:nvSpPr>
        <p:spPr>
          <a:xfrm>
            <a:off x="6857828" y="609600"/>
            <a:ext cx="4724282" cy="811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2D6EE"/>
                </a:solidFill>
                <a:latin typeface="Hind" pitchFamily="34" charset="0"/>
                <a:ea typeface="Hind" pitchFamily="34" charset="-122"/>
                <a:cs typeface="Hind" pitchFamily="34" charset="-120"/>
              </a:rPr>
              <a:t>For example, in </a:t>
            </a:r>
            <a:pPr algn="l" indent="0" marL="0">
              <a:lnSpc>
                <a:spcPct val="118000"/>
              </a:lnSpc>
              <a:buNone/>
            </a:pPr>
            <a:r>
              <a:rPr lang="en-US" sz="1500" i="1" dirty="0">
                <a:solidFill>
                  <a:srgbClr val="E2D6EE"/>
                </a:solidFill>
                <a:latin typeface="Hind" pitchFamily="34" charset="0"/>
                <a:ea typeface="Hind" pitchFamily="34" charset="-122"/>
                <a:cs typeface="Hind" pitchFamily="34" charset="-120"/>
              </a:rPr>
              <a:t>CrossFire</a:t>
            </a:r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2D6EE"/>
                </a:solidFill>
                <a:latin typeface="Hind" pitchFamily="34" charset="0"/>
                <a:ea typeface="Hind" pitchFamily="34" charset="-122"/>
                <a:cs typeface="Hind" pitchFamily="34" charset="-120"/>
              </a:rPr>
              <a:t>, techniques such as jump-crouching and ghost jumping involve interactions between different game mechanics.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48244" y="2466280"/>
            <a:ext cx="5943451" cy="2195810"/>
          </a:xfrm>
          <a:prstGeom prst="rect">
            <a:avLst/>
          </a:prstGeom>
          <a:solidFill>
            <a:srgbClr val="0B4F5C"/>
          </a:solidFill>
          <a:ln/>
        </p:spPr>
      </p:sp>
      <p:sp>
        <p:nvSpPr>
          <p:cNvPr id="8" name="Text 6"/>
          <p:cNvSpPr/>
          <p:nvPr/>
        </p:nvSpPr>
        <p:spPr>
          <a:xfrm>
            <a:off x="6857828" y="3075880"/>
            <a:ext cx="4724282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Hind" pitchFamily="34" charset="0"/>
                <a:ea typeface="Hind" pitchFamily="34" charset="-122"/>
                <a:cs typeface="Hind" pitchFamily="34" charset="-120"/>
              </a:rPr>
              <a:t>Even if individual features work correctly, combining them may produce unexpected results.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48244" y="4662091"/>
            <a:ext cx="5943451" cy="2195909"/>
          </a:xfrm>
          <a:prstGeom prst="rect">
            <a:avLst/>
          </a:prstGeom>
          <a:solidFill>
            <a:srgbClr val="3D1466"/>
          </a:solidFill>
          <a:ln/>
        </p:spPr>
      </p:sp>
      <p:sp>
        <p:nvSpPr>
          <p:cNvPr id="10" name="Text 8"/>
          <p:cNvSpPr/>
          <p:nvPr/>
        </p:nvSpPr>
        <p:spPr>
          <a:xfrm>
            <a:off x="6857828" y="5271691"/>
            <a:ext cx="4724282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2D6EE"/>
                </a:solidFill>
                <a:latin typeface="Hind" pitchFamily="34" charset="0"/>
                <a:ea typeface="Hind" pitchFamily="34" charset="-122"/>
                <a:cs typeface="Hind" pitchFamily="34" charset="-120"/>
              </a:rPr>
              <a:t>We need to determine whether these behaviors are bugs, intended mechanics, or techniques discovered by players.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248244" y="2459930"/>
            <a:ext cx="5943451" cy="12700"/>
          </a:xfrm>
          <a:prstGeom prst="rect">
            <a:avLst/>
          </a:prstGeom>
          <a:solidFill>
            <a:srgbClr val="5A3A7A"/>
          </a:solidFill>
          <a:ln/>
        </p:spPr>
      </p:sp>
      <p:sp>
        <p:nvSpPr>
          <p:cNvPr id="12" name="Shape 10"/>
          <p:cNvSpPr/>
          <p:nvPr/>
        </p:nvSpPr>
        <p:spPr>
          <a:xfrm>
            <a:off x="6248244" y="4655741"/>
            <a:ext cx="5943451" cy="12700"/>
          </a:xfrm>
          <a:prstGeom prst="rect">
            <a:avLst/>
          </a:prstGeom>
          <a:solidFill>
            <a:srgbClr val="5A3A7A"/>
          </a:solidFill>
          <a:ln/>
        </p:spPr>
      </p:sp>
      <p:sp>
        <p:nvSpPr>
          <p:cNvPr id="13" name="Text 11"/>
          <p:cNvSpPr/>
          <p:nvPr/>
        </p:nvSpPr>
        <p:spPr>
          <a:xfrm>
            <a:off x="11835608" y="6458545"/>
            <a:ext cx="356087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50" spc="84" kern="100" dirty="0">
                <a:solidFill>
                  <a:srgbClr val="B6A3CC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04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6809"/>
            <a:ext cx="10972526" cy="597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9000"/>
              </a:lnSpc>
              <a:buNone/>
            </a:pPr>
            <a:r>
              <a:rPr lang="en-US" sz="4400" b="1" spc="-53" kern="100" dirty="0">
                <a:solidFill>
                  <a:srgbClr val="F6EEFB"/>
                </a:solidFill>
                <a:latin typeface="Rajdhani Bold" pitchFamily="34" charset="0"/>
                <a:ea typeface="Rajdhani Bold" pitchFamily="34" charset="-122"/>
                <a:cs typeface="Rajdhani Bold" pitchFamily="34" charset="-120"/>
              </a:rPr>
              <a:t>Game Development Requires Trade-offs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609585" y="1450380"/>
            <a:ext cx="2743131" cy="31651"/>
          </a:xfrm>
          <a:prstGeom prst="roundRect">
            <a:avLst>
              <a:gd name="adj" fmla="val 49998"/>
            </a:avLst>
          </a:prstGeom>
          <a:solidFill>
            <a:srgbClr val="FFB23F"/>
          </a:solidFill>
          <a:ln/>
        </p:spPr>
      </p:sp>
      <p:sp>
        <p:nvSpPr>
          <p:cNvPr id="4" name="Text 2"/>
          <p:cNvSpPr/>
          <p:nvPr/>
        </p:nvSpPr>
        <p:spPr>
          <a:xfrm>
            <a:off x="609585" y="2005112"/>
            <a:ext cx="10972526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2D6EE"/>
                </a:solidFill>
                <a:latin typeface="Hind" pitchFamily="34" charset="0"/>
                <a:ea typeface="Hind" pitchFamily="34" charset="-122"/>
                <a:cs typeface="Hind" pitchFamily="34" charset="-120"/>
              </a:rPr>
              <a:t>Third, game development requires trade-offs.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09585" y="3229570"/>
            <a:ext cx="10972526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2D6EE"/>
                </a:solidFill>
                <a:latin typeface="Hind" pitchFamily="34" charset="0"/>
                <a:ea typeface="Hind" pitchFamily="34" charset="-122"/>
                <a:cs typeface="Hind" pitchFamily="34" charset="-120"/>
              </a:rPr>
              <a:t>Large games like </a:t>
            </a:r>
            <a:pPr algn="l" indent="0" marL="0">
              <a:lnSpc>
                <a:spcPct val="118000"/>
              </a:lnSpc>
              <a:buNone/>
            </a:pPr>
            <a:r>
              <a:rPr lang="en-US" sz="1500" i="1" dirty="0">
                <a:solidFill>
                  <a:srgbClr val="E2D6EE"/>
                </a:solidFill>
                <a:latin typeface="Hind" pitchFamily="34" charset="0"/>
                <a:ea typeface="Hind" pitchFamily="34" charset="-122"/>
                <a:cs typeface="Hind" pitchFamily="34" charset="-120"/>
              </a:rPr>
              <a:t>Genshin Impact</a:t>
            </a:r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2D6EE"/>
                </a:solidFill>
                <a:latin typeface="Hind" pitchFamily="34" charset="0"/>
                <a:ea typeface="Hind" pitchFamily="34" charset="-122"/>
                <a:cs typeface="Hind" pitchFamily="34" charset="-120"/>
              </a:rPr>
              <a:t> must balance graphics quality, performance, device compatibility, and development costs.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09585" y="4454128"/>
            <a:ext cx="10972526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2D6EE"/>
                </a:solidFill>
                <a:latin typeface="Hind" pitchFamily="34" charset="0"/>
                <a:ea typeface="Hind" pitchFamily="34" charset="-122"/>
                <a:cs typeface="Hind" pitchFamily="34" charset="-120"/>
              </a:rPr>
              <a:t>Improving one aspect does not necessarily improve the entire game.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09585" y="5678686"/>
            <a:ext cx="10972526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2D6EE"/>
                </a:solidFill>
                <a:latin typeface="Hind" pitchFamily="34" charset="0"/>
                <a:ea typeface="Hind" pitchFamily="34" charset="-122"/>
                <a:cs typeface="Hind" pitchFamily="34" charset="-120"/>
              </a:rPr>
              <a:t>Adding more features without considering their side effects may make the system more complicated and less stable.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09585" y="2746276"/>
            <a:ext cx="10972526" cy="12700"/>
          </a:xfrm>
          <a:prstGeom prst="rect">
            <a:avLst/>
          </a:prstGeom>
          <a:solidFill>
            <a:srgbClr val="5A3A7A"/>
          </a:solidFill>
          <a:ln/>
        </p:spPr>
      </p:sp>
      <p:sp>
        <p:nvSpPr>
          <p:cNvPr id="9" name="Shape 7"/>
          <p:cNvSpPr/>
          <p:nvPr/>
        </p:nvSpPr>
        <p:spPr>
          <a:xfrm>
            <a:off x="609585" y="3970734"/>
            <a:ext cx="10972526" cy="12700"/>
          </a:xfrm>
          <a:prstGeom prst="rect">
            <a:avLst/>
          </a:prstGeom>
          <a:solidFill>
            <a:srgbClr val="5A3A7A"/>
          </a:solidFill>
          <a:ln/>
        </p:spPr>
      </p:sp>
      <p:sp>
        <p:nvSpPr>
          <p:cNvPr id="10" name="Shape 8"/>
          <p:cNvSpPr/>
          <p:nvPr/>
        </p:nvSpPr>
        <p:spPr>
          <a:xfrm>
            <a:off x="609585" y="5195292"/>
            <a:ext cx="10972526" cy="12700"/>
          </a:xfrm>
          <a:prstGeom prst="rect">
            <a:avLst/>
          </a:prstGeom>
          <a:solidFill>
            <a:srgbClr val="5A3A7A"/>
          </a:solidFill>
          <a:ln/>
        </p:spPr>
      </p:sp>
      <p:sp>
        <p:nvSpPr>
          <p:cNvPr id="11" name="Text 9"/>
          <p:cNvSpPr/>
          <p:nvPr/>
        </p:nvSpPr>
        <p:spPr>
          <a:xfrm>
            <a:off x="11835608" y="6458545"/>
            <a:ext cx="356087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50" spc="84" kern="100" dirty="0">
                <a:solidFill>
                  <a:srgbClr val="B6A3CC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05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6809"/>
            <a:ext cx="10972526" cy="597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9000"/>
              </a:lnSpc>
              <a:buNone/>
            </a:pPr>
            <a:r>
              <a:rPr lang="en-US" sz="4400" b="1" spc="-53" kern="100" dirty="0">
                <a:solidFill>
                  <a:srgbClr val="F6EEFB"/>
                </a:solidFill>
                <a:latin typeface="Rajdhani Bold" pitchFamily="34" charset="0"/>
                <a:ea typeface="Rajdhani Bold" pitchFamily="34" charset="-122"/>
                <a:cs typeface="Rajdhani Bold" pitchFamily="34" charset="-120"/>
              </a:rPr>
              <a:t>Complex Architecture Cannot Always Be Patched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609585" y="1450380"/>
            <a:ext cx="2743131" cy="31651"/>
          </a:xfrm>
          <a:prstGeom prst="roundRect">
            <a:avLst>
              <a:gd name="adj" fmla="val 49998"/>
            </a:avLst>
          </a:prstGeom>
          <a:solidFill>
            <a:srgbClr val="FFB23F"/>
          </a:solidFill>
          <a:ln/>
        </p:spPr>
      </p:sp>
      <p:sp>
        <p:nvSpPr>
          <p:cNvPr id="4" name="Text 2"/>
          <p:cNvSpPr/>
          <p:nvPr/>
        </p:nvSpPr>
        <p:spPr>
          <a:xfrm>
            <a:off x="609585" y="1705967"/>
            <a:ext cx="10972526" cy="281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500" dirty="0">
                <a:solidFill>
                  <a:srgbClr val="E2D6EE"/>
                </a:solidFill>
                <a:latin typeface="Hind" pitchFamily="34" charset="0"/>
                <a:ea typeface="Hind" pitchFamily="34" charset="-122"/>
                <a:cs typeface="Hind" pitchFamily="34" charset="-120"/>
              </a:rPr>
              <a:t>Fourth, current AI still struggles with some complex architectural problems.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09585" y="2705894"/>
            <a:ext cx="10972526" cy="281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500" dirty="0">
                <a:solidFill>
                  <a:srgbClr val="E2D6EE"/>
                </a:solidFill>
                <a:latin typeface="Hind" pitchFamily="34" charset="0"/>
                <a:ea typeface="Hind" pitchFamily="34" charset="-122"/>
                <a:cs typeface="Hind" pitchFamily="34" charset="-120"/>
              </a:rPr>
              <a:t>Large projects often contain legacy code that has accumulated over many years.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09585" y="3705820"/>
            <a:ext cx="10972526" cy="281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500" dirty="0">
                <a:solidFill>
                  <a:srgbClr val="E2D6EE"/>
                </a:solidFill>
                <a:latin typeface="Hind" pitchFamily="34" charset="0"/>
                <a:ea typeface="Hind" pitchFamily="34" charset="-122"/>
                <a:cs typeface="Hind" pitchFamily="34" charset="-120"/>
              </a:rPr>
              <a:t>When the underlying design is too rigid, adding more patches may not solve the real problem.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09585" y="4705747"/>
            <a:ext cx="10972526" cy="281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500" dirty="0">
                <a:solidFill>
                  <a:srgbClr val="E2D6EE"/>
                </a:solidFill>
                <a:latin typeface="Hind" pitchFamily="34" charset="0"/>
                <a:ea typeface="Hind" pitchFamily="34" charset="-122"/>
                <a:cs typeface="Hind" pitchFamily="34" charset="-120"/>
              </a:rPr>
              <a:t>Sometimes, the system needs to be redesigned or even rewritten.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09585" y="5705673"/>
            <a:ext cx="10972526" cy="281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500" dirty="0">
                <a:solidFill>
                  <a:srgbClr val="E2D6EE"/>
                </a:solidFill>
                <a:latin typeface="Hind" pitchFamily="34" charset="0"/>
                <a:ea typeface="Hind" pitchFamily="34" charset="-122"/>
                <a:cs typeface="Hind" pitchFamily="34" charset="-120"/>
              </a:rPr>
              <a:t>AI can help with this process, but it cannot yet reliably handle every complex restructuring task.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9585" y="2470944"/>
            <a:ext cx="10972526" cy="12700"/>
          </a:xfrm>
          <a:prstGeom prst="rect">
            <a:avLst/>
          </a:prstGeom>
          <a:solidFill>
            <a:srgbClr val="5A3A7A"/>
          </a:solidFill>
          <a:ln/>
        </p:spPr>
      </p:sp>
      <p:sp>
        <p:nvSpPr>
          <p:cNvPr id="10" name="Shape 8"/>
          <p:cNvSpPr/>
          <p:nvPr/>
        </p:nvSpPr>
        <p:spPr>
          <a:xfrm>
            <a:off x="609585" y="3470870"/>
            <a:ext cx="10972526" cy="12700"/>
          </a:xfrm>
          <a:prstGeom prst="rect">
            <a:avLst/>
          </a:prstGeom>
          <a:solidFill>
            <a:srgbClr val="5A3A7A"/>
          </a:solidFill>
          <a:ln/>
        </p:spPr>
      </p:sp>
      <p:sp>
        <p:nvSpPr>
          <p:cNvPr id="11" name="Shape 9"/>
          <p:cNvSpPr/>
          <p:nvPr/>
        </p:nvSpPr>
        <p:spPr>
          <a:xfrm>
            <a:off x="609585" y="4470797"/>
            <a:ext cx="10972526" cy="12700"/>
          </a:xfrm>
          <a:prstGeom prst="rect">
            <a:avLst/>
          </a:prstGeom>
          <a:solidFill>
            <a:srgbClr val="5A3A7A"/>
          </a:solidFill>
          <a:ln/>
        </p:spPr>
      </p:sp>
      <p:sp>
        <p:nvSpPr>
          <p:cNvPr id="12" name="Shape 10"/>
          <p:cNvSpPr/>
          <p:nvPr/>
        </p:nvSpPr>
        <p:spPr>
          <a:xfrm>
            <a:off x="609585" y="5470723"/>
            <a:ext cx="10972526" cy="12700"/>
          </a:xfrm>
          <a:prstGeom prst="rect">
            <a:avLst/>
          </a:prstGeom>
          <a:solidFill>
            <a:srgbClr val="5A3A7A"/>
          </a:solidFill>
          <a:ln/>
        </p:spPr>
      </p:sp>
      <p:sp>
        <p:nvSpPr>
          <p:cNvPr id="13" name="Text 11"/>
          <p:cNvSpPr/>
          <p:nvPr/>
        </p:nvSpPr>
        <p:spPr>
          <a:xfrm>
            <a:off x="11835608" y="6458545"/>
            <a:ext cx="356087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50" spc="84" kern="100" dirty="0">
                <a:solidFill>
                  <a:srgbClr val="B6A3CC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06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6809"/>
            <a:ext cx="10972526" cy="597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9000"/>
              </a:lnSpc>
              <a:buNone/>
            </a:pPr>
            <a:r>
              <a:rPr lang="en-US" sz="4400" b="1" spc="-53" kern="100" dirty="0">
                <a:solidFill>
                  <a:srgbClr val="F6EEFB"/>
                </a:solidFill>
                <a:latin typeface="Rajdhani Bold" pitchFamily="34" charset="0"/>
                <a:ea typeface="Rajdhani Bold" pitchFamily="34" charset="-122"/>
                <a:cs typeface="Rajdhani Bold" pitchFamily="34" charset="-120"/>
              </a:rPr>
              <a:t>AI Can Create Architectural Risks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609585" y="1450380"/>
            <a:ext cx="2743131" cy="31651"/>
          </a:xfrm>
          <a:prstGeom prst="roundRect">
            <a:avLst>
              <a:gd name="adj" fmla="val 49998"/>
            </a:avLst>
          </a:prstGeom>
          <a:solidFill>
            <a:srgbClr val="FFB23F"/>
          </a:solidFill>
          <a:ln/>
        </p:spPr>
      </p:sp>
      <p:sp>
        <p:nvSpPr>
          <p:cNvPr id="4" name="Shape 2"/>
          <p:cNvSpPr/>
          <p:nvPr/>
        </p:nvSpPr>
        <p:spPr>
          <a:xfrm>
            <a:off x="609585" y="1856780"/>
            <a:ext cx="527037" cy="527050"/>
          </a:xfrm>
          <a:prstGeom prst="roundRect">
            <a:avLst>
              <a:gd name="adj" fmla="val 10843"/>
            </a:avLst>
          </a:prstGeom>
          <a:noFill/>
          <a:ln w="25399">
            <a:solidFill>
              <a:srgbClr val="E53589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856" y="2025055"/>
            <a:ext cx="190495" cy="1905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9585" y="2561630"/>
            <a:ext cx="10972526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2D6EE"/>
                </a:solidFill>
                <a:latin typeface="Hind" pitchFamily="34" charset="0"/>
                <a:ea typeface="Hind" pitchFamily="34" charset="-122"/>
                <a:cs typeface="Hind" pitchFamily="34" charset="-120"/>
              </a:rPr>
              <a:t>Fifth, AI can still make mistakes that create unnecessary code and architectural risks.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09585" y="3489424"/>
            <a:ext cx="527037" cy="527050"/>
          </a:xfrm>
          <a:prstGeom prst="roundRect">
            <a:avLst>
              <a:gd name="adj" fmla="val 10843"/>
            </a:avLst>
          </a:prstGeom>
          <a:noFill/>
          <a:ln w="25399">
            <a:solidFill>
              <a:srgbClr val="E53589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856" y="3657699"/>
            <a:ext cx="190495" cy="1905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09585" y="4194274"/>
            <a:ext cx="10972526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2D6EE"/>
                </a:solidFill>
                <a:latin typeface="Hind" pitchFamily="34" charset="0"/>
                <a:ea typeface="Hind" pitchFamily="34" charset="-122"/>
                <a:cs typeface="Hind" pitchFamily="34" charset="-120"/>
              </a:rPr>
              <a:t>It may misunderstand an API, duplicate existing functionality, or introduce unnecessary abstractions.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609585" y="5122168"/>
            <a:ext cx="527037" cy="527050"/>
          </a:xfrm>
          <a:prstGeom prst="roundRect">
            <a:avLst>
              <a:gd name="adj" fmla="val 10843"/>
            </a:avLst>
          </a:prstGeom>
          <a:noFill/>
          <a:ln w="25399">
            <a:solidFill>
              <a:srgbClr val="E53589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856" y="5290443"/>
            <a:ext cx="190495" cy="1905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09585" y="5827018"/>
            <a:ext cx="10972526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2D6EE"/>
                </a:solidFill>
                <a:latin typeface="Hind" pitchFamily="34" charset="0"/>
                <a:ea typeface="Hind" pitchFamily="34" charset="-122"/>
                <a:cs typeface="Hind" pitchFamily="34" charset="-120"/>
              </a:rPr>
              <a:t>If developers cannot recognize these problems, the codebase may become increasingly complicated and expensive to maintain.</a:t>
            </a:r>
            <a:endParaRPr lang="en-US" sz="1500" dirty="0"/>
          </a:p>
        </p:txBody>
      </p:sp>
      <p:sp>
        <p:nvSpPr>
          <p:cNvPr id="13" name="Shape 8"/>
          <p:cNvSpPr/>
          <p:nvPr/>
        </p:nvSpPr>
        <p:spPr>
          <a:xfrm>
            <a:off x="609585" y="3154462"/>
            <a:ext cx="10972526" cy="12700"/>
          </a:xfrm>
          <a:prstGeom prst="rect">
            <a:avLst/>
          </a:prstGeom>
          <a:solidFill>
            <a:srgbClr val="5A3A7A"/>
          </a:solidFill>
          <a:ln/>
        </p:spPr>
      </p:sp>
      <p:sp>
        <p:nvSpPr>
          <p:cNvPr id="14" name="Shape 9"/>
          <p:cNvSpPr/>
          <p:nvPr/>
        </p:nvSpPr>
        <p:spPr>
          <a:xfrm>
            <a:off x="609585" y="4787106"/>
            <a:ext cx="10972526" cy="12700"/>
          </a:xfrm>
          <a:prstGeom prst="rect">
            <a:avLst/>
          </a:prstGeom>
          <a:solidFill>
            <a:srgbClr val="5A3A7A"/>
          </a:solidFill>
          <a:ln/>
        </p:spPr>
      </p:sp>
      <p:sp>
        <p:nvSpPr>
          <p:cNvPr id="15" name="Text 10"/>
          <p:cNvSpPr/>
          <p:nvPr/>
        </p:nvSpPr>
        <p:spPr>
          <a:xfrm>
            <a:off x="11835608" y="6458545"/>
            <a:ext cx="356087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50" spc="84" kern="100" dirty="0">
                <a:solidFill>
                  <a:srgbClr val="B6A3CC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07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63702"/>
            <a:ext cx="10972526" cy="20054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8000"/>
              </a:lnSpc>
              <a:buNone/>
            </a:pPr>
            <a:r>
              <a:rPr lang="en-US" sz="8400" b="1" spc="-336" kern="100" dirty="0">
                <a:solidFill>
                  <a:srgbClr val="F6EEFB"/>
                </a:solidFill>
                <a:latin typeface="Oxanium Bold" pitchFamily="34" charset="0"/>
                <a:ea typeface="Oxanium Bold" pitchFamily="34" charset="-122"/>
                <a:cs typeface="Oxanium Bold" pitchFamily="34" charset="-120"/>
              </a:rPr>
              <a:t>Future AI May Program Better Than Humans</a:t>
            </a:r>
            <a:endParaRPr lang="en-US" sz="8400" dirty="0"/>
          </a:p>
        </p:txBody>
      </p:sp>
      <p:sp>
        <p:nvSpPr>
          <p:cNvPr id="3" name="Shape 1"/>
          <p:cNvSpPr/>
          <p:nvPr/>
        </p:nvSpPr>
        <p:spPr>
          <a:xfrm>
            <a:off x="609585" y="2857897"/>
            <a:ext cx="2743131" cy="31651"/>
          </a:xfrm>
          <a:prstGeom prst="roundRect">
            <a:avLst>
              <a:gd name="adj" fmla="val 49998"/>
            </a:avLst>
          </a:prstGeom>
          <a:solidFill>
            <a:srgbClr val="FFB23F"/>
          </a:solidFill>
          <a:ln/>
        </p:spPr>
      </p:sp>
      <p:sp>
        <p:nvSpPr>
          <p:cNvPr id="4" name="Text 2"/>
          <p:cNvSpPr/>
          <p:nvPr/>
        </p:nvSpPr>
        <p:spPr>
          <a:xfrm>
            <a:off x="609585" y="3113484"/>
            <a:ext cx="10972526" cy="1437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spcAft>
                <a:spcPts val="1350"/>
              </a:spcAft>
              <a:buNone/>
            </a:pPr>
            <a:r>
              <a:rPr lang="en-US" sz="1500" dirty="0">
                <a:solidFill>
                  <a:srgbClr val="E2D6EE"/>
                </a:solidFill>
                <a:latin typeface="Hind" pitchFamily="34" charset="0"/>
                <a:ea typeface="Hind" pitchFamily="34" charset="-122"/>
                <a:cs typeface="Hind" pitchFamily="34" charset="-120"/>
              </a:rPr>
              <a:t>Of course, we should not assume that AI will always have these limitations.</a:t>
            </a:r>
            <a:endParaRPr lang="en-US" sz="1500" dirty="0"/>
          </a:p>
          <a:p>
            <a:pPr algn="l" indent="0" marL="0">
              <a:lnSpc>
                <a:spcPct val="118000"/>
              </a:lnSpc>
              <a:spcAft>
                <a:spcPts val="1350"/>
              </a:spcAft>
              <a:buNone/>
            </a:pPr>
            <a:r>
              <a:rPr lang="en-US" sz="1500" dirty="0">
                <a:solidFill>
                  <a:srgbClr val="E2D6EE"/>
                </a:solidFill>
                <a:latin typeface="Hind" pitchFamily="34" charset="0"/>
                <a:ea typeface="Hind" pitchFamily="34" charset="-122"/>
                <a:cs typeface="Hind" pitchFamily="34" charset="-120"/>
              </a:rPr>
              <a:t>Perhaps, decades from now, it will write better code than humans, understand more complex systems, and automate most software development tasks.</a:t>
            </a:r>
            <a:endParaRPr lang="en-US" sz="15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2D6EE"/>
                </a:solidFill>
                <a:latin typeface="Hind" pitchFamily="34" charset="0"/>
                <a:ea typeface="Hind" pitchFamily="34" charset="-122"/>
                <a:cs typeface="Hind" pitchFamily="34" charset="-120"/>
              </a:rPr>
              <a:t>However, I believe that this does not mean every problem in software development will disappear.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1835608" y="6458545"/>
            <a:ext cx="356087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50" spc="84" kern="100" dirty="0">
                <a:solidFill>
                  <a:srgbClr val="B6A3CC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08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6809"/>
            <a:ext cx="10972526" cy="597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9000"/>
              </a:lnSpc>
              <a:buNone/>
            </a:pPr>
            <a:r>
              <a:rPr lang="en-US" sz="4400" b="1" spc="-53" kern="100" dirty="0">
                <a:solidFill>
                  <a:srgbClr val="F6EEFB"/>
                </a:solidFill>
                <a:latin typeface="Rajdhani Bold" pitchFamily="34" charset="0"/>
                <a:ea typeface="Rajdhani Bold" pitchFamily="34" charset="-122"/>
                <a:cs typeface="Rajdhani Bold" pitchFamily="34" charset="-120"/>
              </a:rPr>
              <a:t>Writing Code Is a Means, Not the Ultimate Goal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609585" y="1450380"/>
            <a:ext cx="2743131" cy="31651"/>
          </a:xfrm>
          <a:prstGeom prst="roundRect">
            <a:avLst>
              <a:gd name="adj" fmla="val 49998"/>
            </a:avLst>
          </a:prstGeom>
          <a:solidFill>
            <a:srgbClr val="FFB23F"/>
          </a:solidFill>
          <a:ln/>
        </p:spPr>
      </p:sp>
      <p:sp>
        <p:nvSpPr>
          <p:cNvPr id="4" name="Text 2"/>
          <p:cNvSpPr/>
          <p:nvPr/>
        </p:nvSpPr>
        <p:spPr>
          <a:xfrm>
            <a:off x="609585" y="1890911"/>
            <a:ext cx="10972526" cy="281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500" dirty="0">
                <a:solidFill>
                  <a:srgbClr val="E2D6EE"/>
                </a:solidFill>
                <a:latin typeface="Hind" pitchFamily="34" charset="0"/>
                <a:ea typeface="Hind" pitchFamily="34" charset="-122"/>
                <a:cs typeface="Hind" pitchFamily="34" charset="-120"/>
              </a:rPr>
              <a:t>Because writing code is only a means, not the ultimate goal.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09585" y="2999879"/>
            <a:ext cx="10972526" cy="281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500" dirty="0">
                <a:solidFill>
                  <a:srgbClr val="E2D6EE"/>
                </a:solidFill>
                <a:latin typeface="Hind" pitchFamily="34" charset="0"/>
                <a:ea typeface="Hind" pitchFamily="34" charset="-122"/>
                <a:cs typeface="Hind" pitchFamily="34" charset="-120"/>
              </a:rPr>
              <a:t>Even if future AI can modify a game engine perfectly, it may still need to deal with competing objectives.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09585" y="4108847"/>
            <a:ext cx="10972526" cy="563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500" dirty="0">
                <a:solidFill>
                  <a:srgbClr val="E2D6EE"/>
                </a:solidFill>
                <a:latin typeface="Hind" pitchFamily="34" charset="0"/>
                <a:ea typeface="Hind" pitchFamily="34" charset="-122"/>
                <a:cs typeface="Hind" pitchFamily="34" charset="-120"/>
              </a:rPr>
              <a:t>Should we prioritize better graphics or smoother performance on more devices? Should we keep adding features, or should we give some of them up to maintain stability and simplicity?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09585" y="5499695"/>
            <a:ext cx="10972526" cy="563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500" dirty="0">
                <a:solidFill>
                  <a:srgbClr val="E2D6EE"/>
                </a:solidFill>
                <a:latin typeface="Hind" pitchFamily="34" charset="0"/>
                <a:ea typeface="Hind" pitchFamily="34" charset="-122"/>
                <a:cs typeface="Hind" pitchFamily="34" charset="-120"/>
              </a:rPr>
              <a:t>AI may help us analyze the consequences of these choices. But we still need to define our goals and decide what results are actually worth achieving.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09585" y="2579985"/>
            <a:ext cx="10972526" cy="12700"/>
          </a:xfrm>
          <a:prstGeom prst="rect">
            <a:avLst/>
          </a:prstGeom>
          <a:solidFill>
            <a:srgbClr val="5A3A7A"/>
          </a:solidFill>
          <a:ln/>
        </p:spPr>
      </p:sp>
      <p:sp>
        <p:nvSpPr>
          <p:cNvPr id="9" name="Shape 7"/>
          <p:cNvSpPr/>
          <p:nvPr/>
        </p:nvSpPr>
        <p:spPr>
          <a:xfrm>
            <a:off x="609585" y="3688953"/>
            <a:ext cx="10972526" cy="12700"/>
          </a:xfrm>
          <a:prstGeom prst="rect">
            <a:avLst/>
          </a:prstGeom>
          <a:solidFill>
            <a:srgbClr val="5A3A7A"/>
          </a:solidFill>
          <a:ln/>
        </p:spPr>
      </p:sp>
      <p:sp>
        <p:nvSpPr>
          <p:cNvPr id="10" name="Shape 8"/>
          <p:cNvSpPr/>
          <p:nvPr/>
        </p:nvSpPr>
        <p:spPr>
          <a:xfrm>
            <a:off x="609585" y="5079802"/>
            <a:ext cx="10972526" cy="12700"/>
          </a:xfrm>
          <a:prstGeom prst="rect">
            <a:avLst/>
          </a:prstGeom>
          <a:solidFill>
            <a:srgbClr val="5A3A7A"/>
          </a:solidFill>
          <a:ln/>
        </p:spPr>
      </p:sp>
      <p:sp>
        <p:nvSpPr>
          <p:cNvPr id="11" name="Text 9"/>
          <p:cNvSpPr/>
          <p:nvPr/>
        </p:nvSpPr>
        <p:spPr>
          <a:xfrm>
            <a:off x="11835608" y="6458545"/>
            <a:ext cx="356087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50" spc="84" kern="100" dirty="0">
                <a:solidFill>
                  <a:srgbClr val="B6A3CC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09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6809"/>
            <a:ext cx="10972526" cy="597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9000"/>
              </a:lnSpc>
              <a:buNone/>
            </a:pPr>
            <a:r>
              <a:rPr lang="en-US" sz="4400" b="1" spc="-53" kern="100" dirty="0">
                <a:solidFill>
                  <a:srgbClr val="F6EEFB"/>
                </a:solidFill>
                <a:latin typeface="Rajdhani Bold" pitchFamily="34" charset="0"/>
                <a:ea typeface="Rajdhani Bold" pitchFamily="34" charset="-122"/>
                <a:cs typeface="Rajdhani Bold" pitchFamily="34" charset="-120"/>
              </a:rPr>
              <a:t>Human Judgment Still Matters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609585" y="1450380"/>
            <a:ext cx="2743131" cy="31651"/>
          </a:xfrm>
          <a:prstGeom prst="roundRect">
            <a:avLst>
              <a:gd name="adj" fmla="val 49998"/>
            </a:avLst>
          </a:prstGeom>
          <a:solidFill>
            <a:srgbClr val="FFB23F"/>
          </a:solidFill>
          <a:ln/>
        </p:spPr>
      </p:sp>
      <p:sp>
        <p:nvSpPr>
          <p:cNvPr id="4" name="Text 2"/>
          <p:cNvSpPr/>
          <p:nvPr/>
        </p:nvSpPr>
        <p:spPr>
          <a:xfrm>
            <a:off x="609585" y="1705967"/>
            <a:ext cx="10972526" cy="281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500" dirty="0">
                <a:solidFill>
                  <a:srgbClr val="E2D6EE"/>
                </a:solidFill>
                <a:latin typeface="Hind" pitchFamily="34" charset="0"/>
                <a:ea typeface="Hind" pitchFamily="34" charset="-122"/>
                <a:cs typeface="Hind" pitchFamily="34" charset="-120"/>
              </a:rPr>
              <a:t>Therefore, I believe that programmers in the age of AI should not focus only on writing more code.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09585" y="2705894"/>
            <a:ext cx="10972526" cy="281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500" dirty="0">
                <a:solidFill>
                  <a:srgbClr val="E2D6EE"/>
                </a:solidFill>
                <a:latin typeface="Hind" pitchFamily="34" charset="0"/>
                <a:ea typeface="Hind" pitchFamily="34" charset="-122"/>
                <a:cs typeface="Hind" pitchFamily="34" charset="-120"/>
              </a:rPr>
              <a:t>They should learn to understand problems, design systems, evaluate results, and take responsibility for their technical decisions.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09585" y="3705820"/>
            <a:ext cx="10972526" cy="281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500" dirty="0">
                <a:solidFill>
                  <a:srgbClr val="E2D6EE"/>
                </a:solidFill>
                <a:latin typeface="Hind" pitchFamily="34" charset="0"/>
                <a:ea typeface="Hind" pitchFamily="34" charset="-122"/>
                <a:cs typeface="Hind" pitchFamily="34" charset="-120"/>
              </a:rPr>
              <a:t>Perhaps, in the future, AI will be better at programming than we are.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09585" y="4705747"/>
            <a:ext cx="10972526" cy="281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500" dirty="0">
                <a:solidFill>
                  <a:srgbClr val="E2D6EE"/>
                </a:solidFill>
                <a:latin typeface="Hind" pitchFamily="34" charset="0"/>
                <a:ea typeface="Hind" pitchFamily="34" charset="-122"/>
                <a:cs typeface="Hind" pitchFamily="34" charset="-120"/>
              </a:rPr>
              <a:t>But what truly matters is not just how to create something, but why we want to create it and whether it is worth creating at all.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09585" y="5705673"/>
            <a:ext cx="10972526" cy="281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500" dirty="0">
                <a:solidFill>
                  <a:srgbClr val="E2D6EE"/>
                </a:solidFill>
                <a:latin typeface="Hind" pitchFamily="34" charset="0"/>
                <a:ea typeface="Hind" pitchFamily="34" charset="-122"/>
                <a:cs typeface="Hind" pitchFamily="34" charset="-120"/>
              </a:rPr>
              <a:t>Thank you for listening!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9585" y="2470944"/>
            <a:ext cx="10972526" cy="12700"/>
          </a:xfrm>
          <a:prstGeom prst="rect">
            <a:avLst/>
          </a:prstGeom>
          <a:solidFill>
            <a:srgbClr val="5A3A7A"/>
          </a:solidFill>
          <a:ln/>
        </p:spPr>
      </p:sp>
      <p:sp>
        <p:nvSpPr>
          <p:cNvPr id="10" name="Shape 8"/>
          <p:cNvSpPr/>
          <p:nvPr/>
        </p:nvSpPr>
        <p:spPr>
          <a:xfrm>
            <a:off x="609585" y="3470870"/>
            <a:ext cx="10972526" cy="12700"/>
          </a:xfrm>
          <a:prstGeom prst="rect">
            <a:avLst/>
          </a:prstGeom>
          <a:solidFill>
            <a:srgbClr val="5A3A7A"/>
          </a:solidFill>
          <a:ln/>
        </p:spPr>
      </p:sp>
      <p:sp>
        <p:nvSpPr>
          <p:cNvPr id="11" name="Shape 9"/>
          <p:cNvSpPr/>
          <p:nvPr/>
        </p:nvSpPr>
        <p:spPr>
          <a:xfrm>
            <a:off x="609585" y="4470797"/>
            <a:ext cx="10972526" cy="12700"/>
          </a:xfrm>
          <a:prstGeom prst="rect">
            <a:avLst/>
          </a:prstGeom>
          <a:solidFill>
            <a:srgbClr val="5A3A7A"/>
          </a:solidFill>
          <a:ln/>
        </p:spPr>
      </p:sp>
      <p:sp>
        <p:nvSpPr>
          <p:cNvPr id="12" name="Shape 10"/>
          <p:cNvSpPr/>
          <p:nvPr/>
        </p:nvSpPr>
        <p:spPr>
          <a:xfrm>
            <a:off x="609585" y="5470723"/>
            <a:ext cx="10972526" cy="12700"/>
          </a:xfrm>
          <a:prstGeom prst="rect">
            <a:avLst/>
          </a:prstGeom>
          <a:solidFill>
            <a:srgbClr val="5A3A7A"/>
          </a:solidFill>
          <a:ln/>
        </p:spPr>
      </p:sp>
      <p:sp>
        <p:nvSpPr>
          <p:cNvPr id="13" name="Text 11"/>
          <p:cNvSpPr/>
          <p:nvPr/>
        </p:nvSpPr>
        <p:spPr>
          <a:xfrm>
            <a:off x="11835608" y="6458545"/>
            <a:ext cx="356087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50" spc="84" kern="100" dirty="0">
                <a:solidFill>
                  <a:srgbClr val="B6A3CC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10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2026-10-19T09:49:03Z</dcterms:created>
  <dcterms:modified xsi:type="dcterms:W3CDTF">2026-10-19T09:49:03Z</dcterms:modified>
</cp:coreProperties>
</file>